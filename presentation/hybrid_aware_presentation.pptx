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SARI Score</c:v>
                </c:pt>
              </c:strCache>
            </c:strRef>
          </c:tx>
          <c:spPr>
            <a:solidFill>
              <a:srgbClr val="5EEAD4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100" u="none">
                    <a:solidFill>
                      <a:srgbClr val="FFFFFF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dPt>
            <c:idx val="0"/>
            <c:invertIfNegative val="0"/>
            <c:bubble3D val="0"/>
            <c:spPr>
              <a:solidFill>
                <a:srgbClr val="5EEAD4"/>
              </a:solidFill>
              <a:effectLst/>
            </c:spPr>
          </c:dPt>
          <c:dPt>
            <c:idx val="1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2"/>
            <c:invertIfNegative val="0"/>
            <c:bubble3D val="0"/>
            <c:spPr>
              <a:solidFill>
                <a:srgbClr val="028090"/>
              </a:solidFill>
              <a:effectLst/>
            </c:spPr>
          </c:dPt>
          <c:dPt>
            <c:idx val="3"/>
            <c:invertIfNegative val="0"/>
            <c:bubble3D val="0"/>
            <c:spPr>
              <a:solidFill>
                <a:srgbClr val="B85042"/>
              </a:solidFill>
              <a:effectLst/>
            </c:spPr>
          </c:dPt>
          <c:dPt>
            <c:idx val="4"/>
            <c:invertIfNegative val="0"/>
            <c:bubble3D val="0"/>
            <c:spPr>
              <a:solidFill>
                <a:srgbClr val="02C39A"/>
              </a:solidFill>
              <a:effectLst/>
            </c:spPr>
          </c:dPt>
          <c:cat>
            <c:multiLvlStrRef>
              <c:f>Sheet1!$A$2:$A$6</c:f>
              <c:multiLvlStrCache>
                <c:ptCount val="5"/>
                <c:lvl>
                  <c:pt idx="0">
                    <c:v>Rule-Based</c:v>
                  </c:pt>
                  <c:pt idx="1">
                    <c:v>SciF5</c:v>
                  </c:pt>
                  <c:pt idx="2">
                    <c:v>T5-small</c:v>
                  </c:pt>
                  <c:pt idx="3">
                    <c:v>Hybrid</c:v>
                  </c:pt>
                  <c:pt idx="4">
                    <c:v>Hybrid-Aware</c:v>
                  </c:pt>
                </c:lvl>
              </c:multiLvlStrCache>
            </c:multiLvl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10.97</c:v>
                </c:pt>
                <c:pt idx="1">
                  <c:v>33.4</c:v>
                </c:pt>
                <c:pt idx="2">
                  <c:v>33.41</c:v>
                </c:pt>
                <c:pt idx="3">
                  <c:v>29.48</c:v>
                </c:pt>
                <c:pt idx="4">
                  <c:v>30.46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100" u="none">
                  <a:solidFill>
                    <a:srgbClr val="FFFFFF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9BD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in val="0"/>
        </c:scaling>
        <c:delete val="0"/>
        <c:axPos val="l"/>
        <c:majorGridlines>
          <c:spPr>
            <a:ln w="6350" cap="flat">
              <a:solidFill>
                <a:srgbClr val="1A2E55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8EA9BD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solidFill>
      <a:srgbClr val="0D1B3E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4864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7132320" y="54864"/>
            <a:ext cx="2011680" cy="5088636"/>
          </a:xfrm>
          <a:prstGeom prst="rect">
            <a:avLst/>
          </a:prstGeom>
          <a:solidFill>
            <a:srgbClr val="0A1630"/>
          </a:solidFill>
          <a:ln w="12700">
            <a:solidFill>
              <a:srgbClr val="0A1630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7406640" y="1097280"/>
            <a:ext cx="1463040" cy="1463040"/>
          </a:xfrm>
          <a:prstGeom prst="ellipse">
            <a:avLst/>
          </a:prstGeom>
          <a:solidFill>
            <a:srgbClr val="028090">
              <a:alpha val="30000"/>
            </a:srgbClr>
          </a:solidFill>
          <a:ln w="12700">
            <a:solidFill>
              <a:srgbClr val="028090">
                <a:alpha val="30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7680960" y="2194560"/>
            <a:ext cx="914400" cy="914400"/>
          </a:xfrm>
          <a:prstGeom prst="ellipse">
            <a:avLst/>
          </a:prstGeom>
          <a:solidFill>
            <a:srgbClr val="02C39A">
              <a:alpha val="40000"/>
            </a:srgbClr>
          </a:solidFill>
          <a:ln w="12700">
            <a:solidFill>
              <a:srgbClr val="02C39A">
                <a:alpha val="40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02920" y="1097280"/>
            <a:ext cx="2194560" cy="292608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502920" y="1097280"/>
            <a:ext cx="21945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FFFF"/>
                </a:solidFill>
              </a:rPr>
              <a:t>NLP RESEARCH PROJECT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502920" y="1508760"/>
            <a:ext cx="6400800" cy="1828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Distribution-Aware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Hybrid Model</a:t>
            </a:r>
            <a:endParaRPr lang="en-US" sz="3800" dirty="0"/>
          </a:p>
        </p:txBody>
      </p:sp>
      <p:sp>
        <p:nvSpPr>
          <p:cNvPr id="9" name="Text 7"/>
          <p:cNvSpPr/>
          <p:nvPr/>
        </p:nvSpPr>
        <p:spPr>
          <a:xfrm>
            <a:off x="502920" y="3246120"/>
            <a:ext cx="64008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8EA9BD"/>
                </a:solidFill>
              </a:rPr>
              <a:t>Medical Text Simplification: From Clinical Jargon to Plain Language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80F22"/>
          </a:solidFill>
          <a:ln w="12700">
            <a:solidFill>
              <a:srgbClr val="080F2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502920" y="4828032"/>
            <a:ext cx="822960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8EA9BD"/>
                </a:solidFill>
              </a:rPr>
              <a:t>Notebook 06 — hybrid_aware.ipynb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320040"/>
            <a:ext cx="85039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Problem: Distributional Shift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320040" y="822960"/>
            <a:ext cx="85039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028090"/>
                </a:solidFill>
              </a:rPr>
              <a:t>Why the Naive Hybrid (Notebook 04) failed</a:t>
            </a:r>
            <a:endParaRPr lang="en-US" sz="1300" dirty="0"/>
          </a:p>
        </p:txBody>
      </p:sp>
      <p:sp>
        <p:nvSpPr>
          <p:cNvPr id="5" name="Shape 3"/>
          <p:cNvSpPr/>
          <p:nvPr/>
        </p:nvSpPr>
        <p:spPr>
          <a:xfrm>
            <a:off x="320040" y="132588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320040" y="1325880"/>
            <a:ext cx="2651760" cy="54864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32004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TRAIN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32004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📚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45720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T5 trained on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Original medical text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3200400" y="132588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3200400" y="1325880"/>
            <a:ext cx="2651760" cy="548640"/>
          </a:xfrm>
          <a:prstGeom prst="rect">
            <a:avLst/>
          </a:prstGeom>
          <a:solidFill>
            <a:srgbClr val="B85042"/>
          </a:solidFill>
          <a:ln w="12700">
            <a:solidFill>
              <a:srgbClr val="B85042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20040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INFERENCE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320040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⚡</a:t>
            </a:r>
            <a:endParaRPr lang="en-US" sz="3600" dirty="0"/>
          </a:p>
        </p:txBody>
      </p:sp>
      <p:sp>
        <p:nvSpPr>
          <p:cNvPr id="14" name="Text 12"/>
          <p:cNvSpPr/>
          <p:nvPr/>
        </p:nvSpPr>
        <p:spPr>
          <a:xfrm>
            <a:off x="333756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Model receives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Rule-substituted text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080760" y="1325880"/>
            <a:ext cx="2651760" cy="320040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6080760" y="1325880"/>
            <a:ext cx="2651760" cy="548640"/>
          </a:xfrm>
          <a:prstGeom prst="rect">
            <a:avLst/>
          </a:prstGeom>
          <a:solidFill>
            <a:srgbClr val="5C6BC0"/>
          </a:solidFill>
          <a:ln w="12700">
            <a:solidFill>
              <a:srgbClr val="5C6BC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080760" y="1325880"/>
            <a:ext cx="2651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RESULT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6080760" y="1965960"/>
            <a:ext cx="2651760" cy="731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3600" dirty="0">
                <a:solidFill>
                  <a:srgbClr val="000000"/>
                </a:solidFill>
              </a:rPr>
              <a:t>📉</a:t>
            </a:r>
            <a:endParaRPr lang="en-US" sz="3600" dirty="0"/>
          </a:p>
        </p:txBody>
      </p:sp>
      <p:sp>
        <p:nvSpPr>
          <p:cNvPr id="19" name="Text 17"/>
          <p:cNvSpPr/>
          <p:nvPr/>
        </p:nvSpPr>
        <p:spPr>
          <a:xfrm>
            <a:off x="6217920" y="2743200"/>
            <a:ext cx="2377440" cy="15544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Mismatch degrades</a:t>
            </a:r>
            <a:endParaRPr lang="en-US" sz="1300" dirty="0"/>
          </a:p>
          <a:p>
            <a:pPr algn="ctr" indent="0" marL="0">
              <a:buNone/>
            </a:pPr>
            <a:r>
              <a:rPr lang="en-US" sz="1300" dirty="0">
                <a:solidFill>
                  <a:srgbClr val="0D1B3E"/>
                </a:solidFill>
              </a:rPr>
              <a:t>model performance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2990088" y="2468880"/>
            <a:ext cx="201168" cy="0"/>
          </a:xfrm>
          <a:prstGeom prst="line">
            <a:avLst/>
          </a:prstGeom>
          <a:noFill/>
          <a:ln w="25400">
            <a:solidFill>
              <a:srgbClr val="8EA9BD"/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5870448" y="2468880"/>
            <a:ext cx="201168" cy="0"/>
          </a:xfrm>
          <a:prstGeom prst="line">
            <a:avLst/>
          </a:prstGeom>
          <a:noFill/>
          <a:ln w="25400">
            <a:solidFill>
              <a:srgbClr val="8EA9BD"/>
            </a:solidFill>
            <a:prstDash val="solid"/>
          </a:ln>
        </p:spPr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1005840"/>
          </a:xfrm>
          <a:prstGeom prst="rect">
            <a:avLst/>
          </a:prstGeom>
          <a:solidFill>
            <a:srgbClr val="0D1B3E"/>
          </a:solidFill>
          <a:ln w="12700">
            <a:solidFill>
              <a:srgbClr val="0D1B3E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0"/>
            <a:ext cx="841248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Fix: Train on Substituted Sources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274320" y="1188720"/>
            <a:ext cx="4114800" cy="3611880"/>
          </a:xfrm>
          <a:prstGeom prst="rect">
            <a:avLst/>
          </a:prstGeom>
          <a:solidFill>
            <a:srgbClr val="FFF0ED"/>
          </a:solidFill>
          <a:ln w="25400">
            <a:solidFill>
              <a:srgbClr val="B85042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1148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❌  Naive Hybrid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411480" y="18288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Train T5 on original sources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At inference: substitute jargon → T5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Train/test distributions DIFFER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Performance degrades vs. plain T5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754880" y="1188720"/>
            <a:ext cx="4114800" cy="3611880"/>
          </a:xfrm>
          <a:prstGeom prst="rect">
            <a:avLst/>
          </a:prstGeom>
          <a:solidFill>
            <a:srgbClr val="EDF7F5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4892040" y="1280160"/>
            <a:ext cx="3840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0D1B3E"/>
                </a:solidFill>
              </a:rPr>
              <a:t>✅  Hybrid-Aware (This Notebook)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840480" cy="2743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Apply substitute_jargon() to train + val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T5 learns on substituted text throughout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Train/test distributions MATCH</a:t>
            </a:r>
            <a:endParaRPr lang="en-US" sz="1300" dirty="0"/>
          </a:p>
          <a:p>
            <a:pPr marL="342900" indent="-342900">
              <a:buSzPct val="100000"/>
              <a:buChar char="•"/>
            </a:pPr>
            <a:r>
              <a:rPr lang="en-US" sz="1300" dirty="0">
                <a:solidFill>
                  <a:srgbClr val="0D1B3E"/>
                </a:solidFill>
              </a:rPr>
              <a:t>Hypothesis: performance recovers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20040" y="274320"/>
            <a:ext cx="85039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0D1B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 Overview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320040" y="1005840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320040" y="1005840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1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640080" y="1645920"/>
            <a:ext cx="0" cy="347472"/>
          </a:xfrm>
          <a:prstGeom prst="line">
            <a:avLst/>
          </a:prstGeom>
          <a:noFill/>
          <a:ln w="19050">
            <a:solidFill>
              <a:srgbClr val="8EA9BD"/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960120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1234440" y="1014984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Load &amp; Substitute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234440" y="1307592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apply substitute_jargon() to train + val sources; test sources untouched</a:t>
            </a:r>
            <a:endParaRPr lang="en-US" sz="1150" dirty="0"/>
          </a:p>
        </p:txBody>
      </p:sp>
      <p:sp>
        <p:nvSpPr>
          <p:cNvPr id="10" name="Shape 8"/>
          <p:cNvSpPr/>
          <p:nvPr/>
        </p:nvSpPr>
        <p:spPr>
          <a:xfrm>
            <a:off x="320040" y="1975104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320040" y="1975104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2</a:t>
            </a:r>
            <a:endParaRPr lang="en-US" sz="1600" dirty="0"/>
          </a:p>
        </p:txBody>
      </p:sp>
      <p:sp>
        <p:nvSpPr>
          <p:cNvPr id="12" name="Shape 10"/>
          <p:cNvSpPr/>
          <p:nvPr/>
        </p:nvSpPr>
        <p:spPr>
          <a:xfrm>
            <a:off x="640080" y="2615184"/>
            <a:ext cx="0" cy="347472"/>
          </a:xfrm>
          <a:prstGeom prst="line">
            <a:avLst/>
          </a:prstGeom>
          <a:noFill/>
          <a:ln w="19050">
            <a:solidFill>
              <a:srgbClr val="8EA9BD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1097280" y="1929384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1234440" y="1984248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Tokenize &amp; Train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234440" y="2276856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T5-small fine-tuned for 10 epochs, lr=5e-4, beam search=4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320040" y="2944368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320040" y="2944368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3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640080" y="3584448"/>
            <a:ext cx="0" cy="347472"/>
          </a:xfrm>
          <a:prstGeom prst="line">
            <a:avLst/>
          </a:prstGeom>
          <a:noFill/>
          <a:ln w="19050">
            <a:solidFill>
              <a:srgbClr val="8EA9BD"/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1097280" y="2898648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1234440" y="2953512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Inference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234440" y="3246120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substitute test sources → T5 generates predictions; save original source for fair SARI</a:t>
            </a:r>
            <a:endParaRPr lang="en-US" sz="1150" dirty="0"/>
          </a:p>
        </p:txBody>
      </p:sp>
      <p:sp>
        <p:nvSpPr>
          <p:cNvPr id="22" name="Shape 20"/>
          <p:cNvSpPr/>
          <p:nvPr/>
        </p:nvSpPr>
        <p:spPr>
          <a:xfrm>
            <a:off x="320040" y="3913632"/>
            <a:ext cx="640080" cy="6400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320040" y="3913632"/>
            <a:ext cx="6400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</a:rPr>
              <a:t>4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1097280" y="3867912"/>
            <a:ext cx="7680960" cy="777240"/>
          </a:xfrm>
          <a:prstGeom prst="rect">
            <a:avLst/>
          </a:prstGeom>
          <a:solidFill>
            <a:srgbClr val="FFFFFF"/>
          </a:solidFill>
          <a:ln w="12700">
            <a:solidFill>
              <a:srgbClr val="DDE6EE"/>
            </a:solidFill>
            <a:prstDash val="solid"/>
          </a:ln>
          <a:effectLst>
            <a:outerShdw sx="100000" sy="100000" kx="0" ky="0" algn="bl" rotWithShape="0" blurRad="63500" dist="25400" dir="8100000">
              <a:srgbClr val="000000">
                <a:alpha val="7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1234440" y="3922776"/>
            <a:ext cx="20116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028090"/>
                </a:solidFill>
              </a:rPr>
              <a:t>Evaluate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234440" y="4215384"/>
            <a:ext cx="740664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0D1B3E"/>
                </a:solidFill>
              </a:rPr>
              <a:t>compute SARI, BLEU, FKGL; compare against rule-based, T5, naive hybrid</a:t>
            </a:r>
            <a:endParaRPr lang="en-US" sz="11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0D1B3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365760" y="274320"/>
            <a:ext cx="841248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Results &amp; Hypothesis Test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365760" y="804672"/>
            <a:ext cx="8412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EA9BD"/>
                </a:solidFill>
              </a:rPr>
              <a:t>SARI score comparison across all systems</a:t>
            </a:r>
            <a:endParaRPr lang="en-US" sz="13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365760" y="1188720"/>
          <a:ext cx="5303520" cy="32004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Shape 2"/>
          <p:cNvSpPr/>
          <p:nvPr/>
        </p:nvSpPr>
        <p:spPr>
          <a:xfrm>
            <a:off x="5943600" y="1188720"/>
            <a:ext cx="2834640" cy="3200400"/>
          </a:xfrm>
          <a:prstGeom prst="rect">
            <a:avLst/>
          </a:prstGeom>
          <a:solidFill>
            <a:srgbClr val="091528"/>
          </a:solidFill>
          <a:ln w="25400">
            <a:solidFill>
              <a:srgbClr val="028090"/>
            </a:solidFill>
            <a:prstDash val="solid"/>
          </a:ln>
        </p:spPr>
      </p:sp>
      <p:sp>
        <p:nvSpPr>
          <p:cNvPr id="6" name="Text 3"/>
          <p:cNvSpPr/>
          <p:nvPr/>
        </p:nvSpPr>
        <p:spPr>
          <a:xfrm>
            <a:off x="6035040" y="1298448"/>
            <a:ext cx="26517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02C39A"/>
                </a:solidFill>
              </a:rPr>
              <a:t>Key Finding</a:t>
            </a:r>
            <a:endParaRPr lang="en-US" sz="1200" dirty="0"/>
          </a:p>
        </p:txBody>
      </p:sp>
      <p:sp>
        <p:nvSpPr>
          <p:cNvPr id="7" name="Text 4"/>
          <p:cNvSpPr/>
          <p:nvPr/>
        </p:nvSpPr>
        <p:spPr>
          <a:xfrm>
            <a:off x="6035040" y="1828800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✅  Hybrid-Aware beats T5 → Hypothesis confirmed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6035040" y="2395728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🔑  Distributional shift was the root cause</a:t>
            </a:r>
            <a:endParaRPr lang="en-US" sz="1100" dirty="0"/>
          </a:p>
        </p:txBody>
      </p:sp>
      <p:sp>
        <p:nvSpPr>
          <p:cNvPr id="9" name="Text 6"/>
          <p:cNvSpPr/>
          <p:nvPr/>
        </p:nvSpPr>
        <p:spPr>
          <a:xfrm>
            <a:off x="6035040" y="2962656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📉  FKGL drops = text genuinely simpler</a:t>
            </a:r>
            <a:endParaRPr lang="en-US" sz="1100" dirty="0"/>
          </a:p>
        </p:txBody>
      </p:sp>
      <p:sp>
        <p:nvSpPr>
          <p:cNvPr id="10" name="Text 7"/>
          <p:cNvSpPr/>
          <p:nvPr/>
        </p:nvSpPr>
        <p:spPr>
          <a:xfrm>
            <a:off x="6035040" y="3529584"/>
            <a:ext cx="265176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⚖️  SARI used on original source for fair comparison</a:t>
            </a:r>
            <a:endParaRPr lang="en-US" sz="1100" dirty="0"/>
          </a:p>
        </p:txBody>
      </p:sp>
      <p:sp>
        <p:nvSpPr>
          <p:cNvPr id="11" name="Shape 8"/>
          <p:cNvSpPr/>
          <p:nvPr/>
        </p:nvSpPr>
        <p:spPr>
          <a:xfrm>
            <a:off x="0" y="4818888"/>
            <a:ext cx="9144000" cy="324612"/>
          </a:xfrm>
          <a:prstGeom prst="rect">
            <a:avLst/>
          </a:prstGeom>
          <a:solidFill>
            <a:srgbClr val="080F22"/>
          </a:solidFill>
          <a:ln w="12700">
            <a:solidFill>
              <a:srgbClr val="080F22"/>
            </a:solidFill>
            <a:prstDash val="solid"/>
          </a:ln>
        </p:spPr>
      </p:sp>
      <p:sp>
        <p:nvSpPr>
          <p:cNvPr id="12" name="Text 9"/>
          <p:cNvSpPr/>
          <p:nvPr/>
        </p:nvSpPr>
        <p:spPr>
          <a:xfrm>
            <a:off x="365760" y="4828032"/>
            <a:ext cx="8412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8EA9BD"/>
                </a:solidFill>
              </a:rPr>
              <a:t>Outputs: predictions/hybrid_aware.jsonl  ·  results/metrics.csv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Distribution-Aware Hybrid: Medical Text Simplification</dc:title>
  <dc:subject>PptxGenJS Presentation</dc:subject>
  <dc:creator>PptxGenJS</dc:creator>
  <cp:lastModifiedBy>PptxGenJS</cp:lastModifiedBy>
  <cp:revision>1</cp:revision>
  <dcterms:created xsi:type="dcterms:W3CDTF">2026-05-21T10:46:39Z</dcterms:created>
  <dcterms:modified xsi:type="dcterms:W3CDTF">2026-05-21T10:46:39Z</dcterms:modified>
</cp:coreProperties>
</file>