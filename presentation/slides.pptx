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8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78" y="119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371600" cy="109728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Medical Text Simplification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E8B54A"/>
                </a:solidFill>
              </a:rPr>
              <a:t>A Comparative Study of Four Biomedical Simplification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FFFFFF"/>
                </a:solidFill>
              </a:rPr>
              <a:t>CIE 553 — Natural Language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3785139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rgbClr val="F4F6F8"/>
                </a:solidFill>
              </a:rPr>
              <a:t>Ibrahim Hanafy</a:t>
            </a:r>
            <a:r>
              <a:rPr lang="ar-EG" sz="1600" dirty="0">
                <a:solidFill>
                  <a:srgbClr val="F4F6F8"/>
                </a:solidFill>
              </a:rPr>
              <a:t>  </a:t>
            </a:r>
            <a:r>
              <a:rPr lang="en-US" sz="1600" dirty="0">
                <a:solidFill>
                  <a:srgbClr val="F4F6F8"/>
                </a:solidFill>
              </a:rPr>
              <a:t> 202200518</a:t>
            </a:r>
          </a:p>
          <a:p>
            <a:r>
              <a:rPr lang="en-US" sz="1600" dirty="0">
                <a:solidFill>
                  <a:srgbClr val="F4F6F8"/>
                </a:solidFill>
              </a:rPr>
              <a:t>Khaled Mahmoud 202200282</a:t>
            </a:r>
          </a:p>
          <a:p>
            <a:r>
              <a:rPr lang="en-US" sz="1600" dirty="0" err="1">
                <a:solidFill>
                  <a:srgbClr val="F4F6F8"/>
                </a:solidFill>
              </a:rPr>
              <a:t>SalahEldin</a:t>
            </a:r>
            <a:r>
              <a:rPr lang="en-US" sz="1600" dirty="0">
                <a:solidFill>
                  <a:srgbClr val="F4F6F8"/>
                </a:solidFill>
              </a:rPr>
              <a:t> </a:t>
            </a:r>
            <a:r>
              <a:rPr lang="en-US" sz="1600" dirty="0" err="1">
                <a:solidFill>
                  <a:srgbClr val="F4F6F8"/>
                </a:solidFill>
              </a:rPr>
              <a:t>rezk</a:t>
            </a:r>
            <a:r>
              <a:rPr sz="1600" dirty="0">
                <a:solidFill>
                  <a:srgbClr val="F4F6F8"/>
                </a:solidFill>
              </a:rPr>
              <a:t>  ·  Spring 2026  ·  Zewail City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Medical knowledge is locked behind technical language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A4A4A"/>
                </a:solidFill>
              </a:rPr>
              <a:t>Patients increasingly read their own clinical reports, abstracts, and discharge summaries — but the text is written for doctors, not for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858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Average medical abstract: FKGL ≈ 18  (university graduate level)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Target patient reader: FKGL ≤ 8  (US grade school)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Misreading → poor adherence, anxiety, worse outcomes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Manual rewriting by clinicians is slow and expensive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Demand growing: patient portals, MyChart, open-notes laws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194560"/>
            <a:ext cx="3931920" cy="2468880"/>
          </a:xfrm>
          <a:prstGeom prst="roundRect">
            <a:avLst/>
          </a:prstGeom>
          <a:solidFill>
            <a:srgbClr val="F4F6F8"/>
          </a:solidFill>
          <a:ln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148F96"/>
                </a:solidFill>
              </a:rPr>
              <a:t>Concrete Goal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Take a sentence written for doctors and rewrite it so a patient with grade-8 reading skill understands it — without losing medical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4754880"/>
            <a:ext cx="3931920" cy="1371600"/>
          </a:xfrm>
          <a:prstGeom prst="roundRect">
            <a:avLst/>
          </a:prstGeom>
          <a:solidFill>
            <a:srgbClr val="F4F6F8"/>
          </a:solidFill>
          <a:ln>
            <a:solidFill>
              <a:srgbClr val="E8B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E8B54A"/>
                </a:solidFill>
              </a:rPr>
              <a:t>Why Now?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Modern transformers can paraphrase fluently — but do they handle medical jargon? We test this.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Why is this Hard?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Medical text breaks normal simplification assumptions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371600"/>
            <a:ext cx="320040" cy="3200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32588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1F3A"/>
                </a:solidFill>
              </a:rPr>
              <a:t>Dense terminology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A4A4A"/>
                </a:solidFill>
              </a:rPr>
              <a:t>'Myocardial infarction', 'thrombocytopenia' — patients don't know these words.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240280"/>
            <a:ext cx="320040" cy="3200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1F3A"/>
                </a:solidFill>
              </a:rPr>
              <a:t>Latin &amp; abbreviations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60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A4A4A"/>
                </a:solidFill>
              </a:rPr>
              <a:t>'In vivo', 'p.o.', 'q.d.', '(n = 147)' — meaningful to clinicians, noise to patients.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108960"/>
            <a:ext cx="320040" cy="3200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06324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1F3A"/>
                </a:solidFill>
              </a:rPr>
              <a:t>Long syntactic chains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29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A4A4A"/>
                </a:solidFill>
              </a:rPr>
              <a:t>30+ word sentences with nested clauses, citations, statistics.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977640"/>
            <a:ext cx="320040" cy="3200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393192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1F3A"/>
                </a:solidFill>
              </a:rPr>
              <a:t>Precision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976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A4A4A"/>
                </a:solidFill>
              </a:rPr>
              <a:t>Wrong simplification = wrong medical advice. Cannot drop quantities, doses, conditions.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846320"/>
            <a:ext cx="320040" cy="3200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480060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B1F3A"/>
                </a:solidFill>
              </a:rPr>
              <a:t>Limited parallel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1663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4A4A4A"/>
                </a:solidFill>
              </a:rPr>
              <a:t>Few sentence-aligned (technical, plain) pairs exist — mostly document-aligned.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Research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1033272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B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74320" rIns="365760" rtlCol="0" anchor="ctr"/>
          <a:lstStyle/>
          <a:p>
            <a:pPr algn="ctr"/>
            <a:r>
              <a:rPr sz="2200" i="1">
                <a:solidFill>
                  <a:srgbClr val="0B1F3A"/>
                </a:solidFill>
              </a:rPr>
              <a:t>Can lightweight dictionary-driven and transformer-based methods
reduce reading difficulty of medical abstracts
without losing information?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48F96"/>
                </a:solidFill>
              </a:rPr>
              <a:t>We compare 4 systems  ·  3 metrics  ·  2 public datasets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303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A4A4A"/>
                </a:solidFill>
              </a:rPr>
              <a:t>  •  Does biomedical pretraining (SciFive) help over generic T5?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A4A4A"/>
                </a:solidFill>
              </a:rPr>
              <a:t>  •  Does combining symbolic + neural beat either alone?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A4A4A"/>
                </a:solidFill>
              </a:rPr>
              <a:t>  •  Can we get good results without huge LLMs and GPUs?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Four lanes, one evaluation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A4A4A"/>
                </a:solidFill>
              </a:rPr>
              <a:t>Same data → same metrics → fair comparison across paradigms.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2468880" cy="146304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600" b="1">
                <a:solidFill>
                  <a:srgbClr val="C0392B"/>
                </a:solidFill>
              </a:rPr>
              <a:t>Rule-Based</a:t>
            </a:r>
          </a:p>
          <a:p>
            <a:pPr algn="ctr">
              <a:spcBef>
                <a:spcPts val="600"/>
              </a:spcBef>
            </a:pPr>
            <a:r>
              <a:rPr sz="1200">
                <a:solidFill>
                  <a:srgbClr val="4A4A4A"/>
                </a:solidFill>
              </a:rPr>
              <a:t>Symbolic
Dictionary + regex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103120"/>
            <a:ext cx="2468880" cy="146304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600" b="1">
                <a:solidFill>
                  <a:srgbClr val="148F96"/>
                </a:solidFill>
              </a:rPr>
              <a:t>T5-Small</a:t>
            </a:r>
          </a:p>
          <a:p>
            <a:pPr algn="ctr">
              <a:spcBef>
                <a:spcPts val="600"/>
              </a:spcBef>
            </a:pPr>
            <a:r>
              <a:rPr sz="1200">
                <a:solidFill>
                  <a:srgbClr val="4A4A4A"/>
                </a:solidFill>
              </a:rPr>
              <a:t>Neural seq2seq
Fine-tuned 60M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103120"/>
            <a:ext cx="2468880" cy="146304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6A3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600" b="1">
                <a:solidFill>
                  <a:srgbClr val="6A3D9A"/>
                </a:solidFill>
              </a:rPr>
              <a:t>SciFive</a:t>
            </a:r>
          </a:p>
          <a:p>
            <a:pPr algn="ctr">
              <a:spcBef>
                <a:spcPts val="600"/>
              </a:spcBef>
            </a:pPr>
            <a:r>
              <a:rPr sz="1200">
                <a:solidFill>
                  <a:srgbClr val="4A4A4A"/>
                </a:solidFill>
              </a:rPr>
              <a:t>Biomedical T5
Domain pretrained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103120"/>
            <a:ext cx="2468880" cy="146304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E8B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tlCol="0" anchor="ctr"/>
          <a:lstStyle/>
          <a:p>
            <a:pPr algn="ctr"/>
            <a:r>
              <a:rPr sz="1600" b="1">
                <a:solidFill>
                  <a:srgbClr val="E8B54A"/>
                </a:solidFill>
              </a:rPr>
              <a:t>Hybrid</a:t>
            </a:r>
          </a:p>
          <a:p>
            <a:pPr algn="ctr">
              <a:spcBef>
                <a:spcPts val="600"/>
              </a:spcBef>
            </a:pPr>
            <a:r>
              <a:rPr sz="1200">
                <a:solidFill>
                  <a:srgbClr val="4A4A4A"/>
                </a:solidFill>
              </a:rPr>
              <a:t>Symbolic → Neural
Rules feed T5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91640" y="3611880"/>
            <a:ext cx="0" cy="685800"/>
          </a:xfrm>
          <a:prstGeom prst="line">
            <a:avLst/>
          </a:prstGeom>
          <a:ln w="2540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434840" y="3611880"/>
            <a:ext cx="0" cy="685800"/>
          </a:xfrm>
          <a:prstGeom prst="line">
            <a:avLst/>
          </a:prstGeom>
          <a:ln w="2540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78040" y="3611880"/>
            <a:ext cx="0" cy="685800"/>
          </a:xfrm>
          <a:prstGeom prst="line">
            <a:avLst/>
          </a:prstGeom>
          <a:ln w="2540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012680" y="3611880"/>
            <a:ext cx="0" cy="685800"/>
          </a:xfrm>
          <a:prstGeom prst="line">
            <a:avLst/>
          </a:prstGeom>
          <a:ln w="2540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" y="4389120"/>
            <a:ext cx="11247120" cy="1280160"/>
          </a:xfrm>
          <a:prstGeom prst="roundRect">
            <a:avLst/>
          </a:prstGeom>
          <a:solidFill>
            <a:srgbClr val="0B1F3A"/>
          </a:solidFill>
          <a:ln w="254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Unified Evaluation Harness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E8B54A"/>
                </a:solidFill>
              </a:rPr>
              <a:t>Same test split  ·  SARI  +  BLEU  +  FKGL  ·  Same reference 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</a:rPr>
              <a:t>Key design choice: every system sees the same inputs and is scored the same way. No system gets a custom metric.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Datasets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PLABA + Cochrane PLS — two public biomedical sources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7160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Domain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Pairs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PLABA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PubMed → plain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~7,500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Cochrane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Reviews → PLS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~4,500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</a:rPr>
              <a:t>Source pairs: technical sentence ↔ plain-language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B1F3A"/>
                </a:solidFill>
              </a:rPr>
              <a:t>Preprocessing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A4A4A"/>
                </a:solidFill>
              </a:rPr>
              <a:t>  •  SpaCy sentencize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A4A4A"/>
                </a:solidFill>
              </a:rPr>
              <a:t>  •  Positional pair alignment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A4A4A"/>
                </a:solidFill>
              </a:rPr>
              <a:t>  •  Token-count filter  (5–80 src, 3–60 tgt)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A4A4A"/>
                </a:solidFill>
              </a:rPr>
              <a:t>  •  Length-ratio filter  (0.5 – 3.0)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A4A4A"/>
                </a:solidFill>
              </a:rPr>
              <a:t>  •  FKGL-difference filter  (Δ ≥ 1.0)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A4A4A"/>
                </a:solidFill>
              </a:rPr>
              <a:t>  •  80 / 10 / 10 train / val / test split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System 1 — Rule-Based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Pure symbolic. No machine learning.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A4A4A"/>
                </a:solidFill>
              </a:rPr>
              <a:t>Baseline. Tests how far simple dictionary + regex can go before adding any neural model.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0972800" cy="228600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400">
                <a:solidFill>
                  <a:srgbClr val="0B1F3A"/>
                </a:solidFill>
                <a:latin typeface="Consolas"/>
              </a:rPr>
              <a:t>[1] Remove Latin parentheticals    →   '(in vivo)' stripped</a:t>
            </a:r>
          </a:p>
          <a:p>
            <a:r>
              <a:rPr sz="1400">
                <a:solidFill>
                  <a:srgbClr val="0B1F3A"/>
                </a:solidFill>
                <a:latin typeface="Consolas"/>
              </a:rPr>
              <a:t>[2] Substitute 507 jargon terms    →   'myocardial infarction' → 'heart attack'</a:t>
            </a:r>
          </a:p>
          <a:p>
            <a:r>
              <a:rPr sz="1400">
                <a:solidFill>
                  <a:srgbClr val="0B1F3A"/>
                </a:solidFill>
                <a:latin typeface="Consolas"/>
              </a:rPr>
              <a:t>[3] Split long sentences           →   semicolon  /  FANBOYS conjunction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5303520" cy="1554480"/>
          </a:xfrm>
          <a:prstGeom prst="roundRect">
            <a:avLst/>
          </a:prstGeom>
          <a:solidFill>
            <a:srgbClr val="F4F6F8"/>
          </a:solidFill>
          <a:ln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148F96"/>
                </a:solidFill>
              </a:rPr>
              <a:t>Strengths</a:t>
            </a:r>
          </a:p>
          <a:p>
            <a:r>
              <a:rPr sz="1300">
                <a:solidFill>
                  <a:srgbClr val="4A4A4A"/>
                </a:solidFill>
              </a:rPr>
              <a:t>  •  Deterministic, explainable</a:t>
            </a:r>
          </a:p>
          <a:p>
            <a:r>
              <a:rPr sz="1300">
                <a:solidFill>
                  <a:srgbClr val="4A4A4A"/>
                </a:solidFill>
              </a:rPr>
              <a:t>  •  No GPU, no training</a:t>
            </a:r>
          </a:p>
          <a:p>
            <a:r>
              <a:rPr sz="1300">
                <a:solidFill>
                  <a:srgbClr val="4A4A4A"/>
                </a:solidFill>
              </a:rPr>
              <a:t>  •  Fast at 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572000"/>
            <a:ext cx="5303520" cy="1554480"/>
          </a:xfrm>
          <a:prstGeom prst="roundRect">
            <a:avLst/>
          </a:prstGeom>
          <a:solidFill>
            <a:srgbClr val="F4F6F8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500" b="1">
                <a:solidFill>
                  <a:srgbClr val="C0392B"/>
                </a:solidFill>
              </a:rPr>
              <a:t>Weaknesses</a:t>
            </a:r>
          </a:p>
          <a:p>
            <a:r>
              <a:rPr sz="1300">
                <a:solidFill>
                  <a:srgbClr val="4A4A4A"/>
                </a:solidFill>
              </a:rPr>
              <a:t>  •  No paraphrasing</a:t>
            </a:r>
          </a:p>
          <a:p>
            <a:r>
              <a:rPr sz="1300">
                <a:solidFill>
                  <a:srgbClr val="4A4A4A"/>
                </a:solidFill>
              </a:rPr>
              <a:t>  •  Cannot rewrite grammar</a:t>
            </a:r>
          </a:p>
          <a:p>
            <a:r>
              <a:rPr sz="1300">
                <a:solidFill>
                  <a:srgbClr val="4A4A4A"/>
                </a:solidFill>
              </a:rPr>
              <a:t>  •  Limited to dictionary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Rule-Based — Inside the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</a:rPr>
              <a:t>Step 1: Latin parenthetical removal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10972800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200">
                <a:solidFill>
                  <a:srgbClr val="0B1F3A"/>
                </a:solidFill>
                <a:latin typeface="Consolas"/>
              </a:rPr>
              <a:t>'The drug was tested in vivo (in vivo trials in mice).'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→ 'The drug was tested in vivo.'    # parenthetical with Latin marker removed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</a:rPr>
              <a:t>Step 2: Dictionary substitution (507 entries, longest-first)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91840"/>
            <a:ext cx="10972800" cy="100584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200">
                <a:solidFill>
                  <a:srgbClr val="0B1F3A"/>
                </a:solidFill>
                <a:latin typeface="Consolas"/>
              </a:rPr>
              <a:t>patterns sorted: 'acute myocardial infarction' before 'myocardial infarction'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→ 'acute myocardial infarction' → 'sudden heart attack'  (no partial overlap)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B1F3A"/>
                </a:solidFill>
              </a:rPr>
              <a:t>Step 3: Sentence splitting on long sentences (&gt; 30 tokens)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846320"/>
            <a:ext cx="10972800" cy="128016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200">
                <a:solidFill>
                  <a:srgbClr val="0B1F3A"/>
                </a:solidFill>
                <a:latin typeface="Consolas"/>
              </a:rPr>
              <a:t>Try semicolon first:  'A; B'  →  'A.'  'B'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Else FANBOYS:         'A, but B'  →  'A.'  'But B'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Both halves must be ≥ 5 tokens (min_fragment) — avoids fragments.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System 2 — T5-Small (Fine-tuned)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General-purpose seq2seq, fine-tuned on PLABA + Cochrane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A4A4A"/>
                </a:solidFill>
              </a:rPr>
              <a:t>T5 = Text-to-Text Transfer Transformer. Frames EVERY NLP task as text-in → text-out.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400">
                <a:solidFill>
                  <a:srgbClr val="0B1F3A"/>
                </a:solidFill>
                <a:latin typeface="Consolas"/>
              </a:rPr>
              <a:t>Input:   'simplify: &lt;source sentence&gt;'</a:t>
            </a:r>
          </a:p>
          <a:p>
            <a:r>
              <a:rPr sz="1400">
                <a:solidFill>
                  <a:srgbClr val="0B1F3A"/>
                </a:solidFill>
                <a:latin typeface="Consolas"/>
              </a:rPr>
              <a:t>Model:   T5-small  (60M parameters, encoder-decoder)</a:t>
            </a:r>
          </a:p>
          <a:p>
            <a:r>
              <a:rPr sz="1400">
                <a:solidFill>
                  <a:srgbClr val="0B1F3A"/>
                </a:solidFill>
                <a:latin typeface="Consolas"/>
              </a:rPr>
              <a:t>Output:  simplified 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Why T5-Small? Cheap to train, fits on free Colab GPU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Fine-tuning: 3 epochs, AdamW, lr 3e-4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Decoding: beam search, num_beams = 4, max_new_tokens = 128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Input prefix 'simplify: ' tells the model which task to perform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T5-Small — What Fine-Tuning Teaches the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A4A4A"/>
                </a:solidFill>
              </a:rPr>
              <a:t>Before fine-tuning, T5 knows English. After fine-tuning, it knows medical → plain mapping.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0392B"/>
                </a:solidFill>
              </a:rPr>
              <a:t>Before fine-tuning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5303520" cy="228600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200">
                <a:solidFill>
                  <a:srgbClr val="0B1F3A"/>
                </a:solidFill>
                <a:latin typeface="Consolas"/>
              </a:rPr>
              <a:t>Input: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  simplify: myocardial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  infarction is acute.</a:t>
            </a:r>
          </a:p>
          <a:p>
            <a:endParaRPr sz="1200">
              <a:solidFill>
                <a:srgbClr val="0B1F3A"/>
              </a:solidFill>
              <a:latin typeface="Consolas"/>
            </a:endParaRP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Output: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  myocardial infarction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  is acute.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8F96"/>
                </a:solidFill>
              </a:rPr>
              <a:t>After fine-tuning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286000"/>
            <a:ext cx="5303520" cy="228600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200">
                <a:solidFill>
                  <a:srgbClr val="0B1F3A"/>
                </a:solidFill>
                <a:latin typeface="Consolas"/>
              </a:rPr>
              <a:t>Input: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  simplify: myocardial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  infarction is acute.</a:t>
            </a:r>
          </a:p>
          <a:p>
            <a:endParaRPr sz="1200">
              <a:solidFill>
                <a:srgbClr val="0B1F3A"/>
              </a:solidFill>
              <a:latin typeface="Consolas"/>
            </a:endParaRP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Output: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  a heart attack is</a:t>
            </a:r>
          </a:p>
          <a:p>
            <a:r>
              <a:rPr sz="1200">
                <a:solidFill>
                  <a:srgbClr val="0B1F3A"/>
                </a:solidFill>
                <a:latin typeface="Consolas"/>
              </a:rPr>
              <a:t>  sudden and serious.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846320"/>
            <a:ext cx="10972800" cy="1371600"/>
          </a:xfrm>
          <a:prstGeom prst="roundRect">
            <a:avLst/>
          </a:prstGeom>
          <a:solidFill>
            <a:srgbClr val="F4F6F8"/>
          </a:solidFill>
          <a:ln>
            <a:solidFill>
              <a:srgbClr val="E8B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E8B54A"/>
                </a:solidFill>
              </a:rPr>
              <a:t>What the model learned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Three things simultaneously: vocabulary substitution (jargon → plain), syntactic restructuring (passive → active, shorter clauses), and content compression (keep the medically important parts).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System 3 — SciFive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T5 pretrained on biomedical corpora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4A4A4A"/>
                </a:solidFill>
              </a:rPr>
              <a:t>  •  Identical architecture to T5-Small (60M params)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A4A4A"/>
                </a:solidFill>
              </a:rPr>
              <a:t>  •  Pretrained on PubMed abstracts + PMC full articles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A4A4A"/>
                </a:solidFill>
              </a:rPr>
              <a:t>  •  Already 'speaks' medical English before fine-tuning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A4A4A"/>
                </a:solidFill>
              </a:rPr>
              <a:t>  •  Fine-tuned on PLABA + Cochrane with the same recipe as T5-Small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A4A4A"/>
                </a:solidFill>
              </a:rPr>
              <a:t>  •  Controlled experiment: only difference = pretraining corpus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846320"/>
            <a:ext cx="9144000" cy="1280160"/>
          </a:xfrm>
          <a:prstGeom prst="roundRect">
            <a:avLst/>
          </a:prstGeom>
          <a:solidFill>
            <a:srgbClr val="F4F6F8"/>
          </a:solidFill>
          <a:ln>
            <a:solidFill>
              <a:srgbClr val="6A3D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6A3D9A"/>
                </a:solidFill>
              </a:rPr>
              <a:t>Hypothesis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Domain pretraining gives SciFive a head start on medical terminology — it should beat vanilla T5-Small on biomedical simplification.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System 4 —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Symbolic substitution then neural generation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500">
                <a:solidFill>
                  <a:srgbClr val="0B1F3A"/>
                </a:solidFill>
                <a:latin typeface="Consolas"/>
              </a:rPr>
              <a:t>source  →  [jargon dictionary]  →  [T5-small fine-tuned]  → 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</a:rPr>
              <a:t>Idea: pre-simplify medical terms so T5 can focus on syntax and fluency.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Stage 1: dictionary jargon substitution (same 507 terms)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Stage 2: T5-Small fine-tuned model generates final output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Hypothesis: T5 frees up capacity it would have used on jargon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Tests whether explicit knowledge helps a neural model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Evaluation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Three complementary signals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Direction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Measures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SARI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↑ higher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Edit quality vs reference  (add / keep / delete)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BLEU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↑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n-gram overlap with 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FKGL Δ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↓ more negative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Drop in reading grade  (input − output)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B1F3A"/>
                </a:solidFill>
              </a:rPr>
              <a:t>Implementation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  •  SARI via EASSE  (corpus_sari)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  •  BLEU via sacrebleu  (effective_order=True, smooths short sentences)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  •  FKGL via textstat  (Flesch–Kincaid Grade Level — US grade)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A4A"/>
                </a:solidFill>
              </a:rPr>
              <a:t>src/metrics.py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Metric Deep-Dive 1 — SARI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System output Against References and against the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A4A4A"/>
                </a:solidFill>
              </a:rPr>
              <a:t>SARI is the standard simplification metric. Unlike BLEU, it rewards EDITS, not just overlap.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10972800" cy="182880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300">
                <a:solidFill>
                  <a:srgbClr val="0B1F3A"/>
                </a:solidFill>
                <a:latin typeface="Consolas"/>
              </a:rPr>
              <a:t>SARI = average of three F-scores:</a:t>
            </a: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   add_F1    — words system adds that match reference</a:t>
            </a: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   keep_F1   — words system keeps that match reference</a:t>
            </a: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   delete_P  — words system deletes that reference also dropped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10972800" cy="1097280"/>
          </a:xfrm>
          <a:prstGeom prst="roundRect">
            <a:avLst/>
          </a:prstGeom>
          <a:solidFill>
            <a:srgbClr val="F4F6F8"/>
          </a:solidFill>
          <a:ln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148F96"/>
                </a:solidFill>
              </a:rPr>
              <a:t>Why it matters here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A system that just copies the input gets high BLEU but low SARI. SARI punishes 'do nothing'.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03520"/>
            <a:ext cx="1097280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C0392B"/>
                </a:solidFill>
              </a:rPr>
              <a:t>Limitation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Single-reference SARI is noisy. Our datasets have only one reference per source.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Metric Deep-Dive 2 — BLEU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n-gram overlap with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A4A4A"/>
                </a:solidFill>
              </a:rPr>
              <a:t>Originally for machine translation. Measures how many short word sequences match the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10972800" cy="182880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300">
                <a:solidFill>
                  <a:srgbClr val="0B1F3A"/>
                </a:solidFill>
                <a:latin typeface="Consolas"/>
              </a:rPr>
              <a:t>BLEU = geometric mean of n-gram precisions (n = 1..4)  ×  brevity penalty</a:t>
            </a:r>
          </a:p>
          <a:p>
            <a:endParaRPr sz="1300">
              <a:solidFill>
                <a:srgbClr val="0B1F3A"/>
              </a:solidFill>
              <a:latin typeface="Consolas"/>
            </a:endParaRP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   1-gram match: words</a:t>
            </a: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   2-gram match: adjacent word pairs</a:t>
            </a: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   3-gram, 4-gram: longer phrases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10972800" cy="1097280"/>
          </a:xfrm>
          <a:prstGeom prst="roundRect">
            <a:avLst/>
          </a:prstGeom>
          <a:solidFill>
            <a:srgbClr val="F4F6F8"/>
          </a:solidFill>
          <a:ln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148F96"/>
                </a:solidFill>
              </a:rPr>
              <a:t>Why it matters here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BLEU rewards fluency and lexical fidelity. A good simplification should still share content words with the reference.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03520"/>
            <a:ext cx="1097280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C0392B"/>
                </a:solidFill>
              </a:rPr>
              <a:t>Caveat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BLEU rewards copying — so SARI must accompany it to detect 'no-op' systems.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Metric Deep-Dive 3 — FKGL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Flesch–Kincaid Grade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A4A4A"/>
                </a:solidFill>
              </a:rPr>
              <a:t>A reference-free readability score. Estimates US school grade needed to read the 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10972800" cy="182880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300">
                <a:solidFill>
                  <a:srgbClr val="0B1F3A"/>
                </a:solidFill>
                <a:latin typeface="Consolas"/>
              </a:rPr>
              <a:t>FKGL = 0.39 × (words / sentences)</a:t>
            </a: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     + 11.8 × (syllables / words)</a:t>
            </a: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     − 15.59</a:t>
            </a:r>
          </a:p>
          <a:p>
            <a:endParaRPr sz="1300">
              <a:solidFill>
                <a:srgbClr val="0B1F3A"/>
              </a:solidFill>
              <a:latin typeface="Consolas"/>
            </a:endParaRP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FKGL Δ = FKGL(input) − FKGL(output)     # bigger drop = simpler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10972800" cy="1097280"/>
          </a:xfrm>
          <a:prstGeom prst="roundRect">
            <a:avLst/>
          </a:prstGeom>
          <a:solidFill>
            <a:srgbClr val="F4F6F8"/>
          </a:solidFill>
          <a:ln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148F96"/>
                </a:solidFill>
              </a:rPr>
              <a:t>Why it matters here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SARI and BLEU need a reference. FKGL doesn't — it directly measures the OUTPUT'S reading difficulty.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03520"/>
            <a:ext cx="1097280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C0392B"/>
                </a:solidFill>
              </a:rPr>
              <a:t>Caveat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Surface metric — doesn't check meaning. A garbled short sentence scores well. Must pair with SARI / BLEU.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Why These Three Metrics Together?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Each one alone is gameable. Together they triangulate quality.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A4A4A"/>
                </a:solidFill>
              </a:rPr>
              <a:t>Every metric has a failure mode. Together they catch cheaters.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116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 Used Alone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Easy Way to Cheat It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SARI only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Add random edits → high SARI, garbled output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BLEU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Copy input verbatim → high BLEU, no simplification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FKGL only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Output 'A.' → very low grade, zero meaning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937760"/>
            <a:ext cx="10972800" cy="1280160"/>
          </a:xfrm>
          <a:prstGeom prst="roundRect">
            <a:avLst/>
          </a:prstGeom>
          <a:solidFill>
            <a:srgbClr val="F4F6F8"/>
          </a:solidFill>
          <a:ln>
            <a:solidFill>
              <a:srgbClr val="E8B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E8B54A"/>
                </a:solidFill>
              </a:rPr>
              <a:t>Together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SARI demands edits, BLEU demands fidelity, FKGL demands actual readability gain. A system must satisfy all three — no single hack wins.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All four systems on the same test split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5943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SARI ↑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BLEU ↑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FKGL Δ ↓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Rule-Based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10.97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5.96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−1.31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1F3A"/>
                          </a:solidFill>
                        </a:rPr>
                        <a:t>T5-Small</a:t>
                      </a:r>
                    </a:p>
                  </a:txBody>
                  <a:tcPr>
                    <a:solidFill>
                      <a:srgbClr val="E8B5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1F3A"/>
                          </a:solidFill>
                        </a:rPr>
                        <a:t>33.41</a:t>
                      </a:r>
                    </a:p>
                  </a:txBody>
                  <a:tcPr>
                    <a:solidFill>
                      <a:srgbClr val="E8B5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1F3A"/>
                          </a:solidFill>
                        </a:rPr>
                        <a:t>7.92</a:t>
                      </a:r>
                    </a:p>
                  </a:txBody>
                  <a:tcPr>
                    <a:solidFill>
                      <a:srgbClr val="E8B5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B1F3A"/>
                          </a:solidFill>
                        </a:rPr>
                        <a:t>−5.41</a:t>
                      </a:r>
                    </a:p>
                  </a:txBody>
                  <a:tcPr>
                    <a:solidFill>
                      <a:srgbClr val="E8B5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SciFive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33.40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7.92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−5.41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29.48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6.37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A4A4A"/>
                          </a:solidFill>
                        </a:rPr>
                        <a:t>−3.84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8" name="Picture 7" descr="sari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5020765" cy="2468880"/>
          </a:xfrm>
          <a:prstGeom prst="rect">
            <a:avLst/>
          </a:prstGeom>
        </p:spPr>
      </p:pic>
      <p:pic>
        <p:nvPicPr>
          <p:cNvPr id="9" name="Picture 8" descr="fkgl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023360"/>
            <a:ext cx="4650828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389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48F96"/>
                </a:solidFill>
              </a:rPr>
              <a:t>T5-Small wins on all 3 metrics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14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173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B1F3A"/>
                </a:solidFill>
              </a:rPr>
              <a:t>Fine-tuned T5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A4A4A"/>
                </a:solidFill>
              </a:rPr>
              <a:t>Best on all 3 metrics. Task-specific fine-tuning dominates.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651760"/>
            <a:ext cx="548640" cy="548640"/>
          </a:xfrm>
          <a:prstGeom prst="ellipse">
            <a:avLst/>
          </a:prstGeom>
          <a:solidFill>
            <a:srgbClr val="14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06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B1F3A"/>
                </a:solidFill>
              </a:rPr>
              <a:t>SciFive ≈ T5-Small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175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A4A4A"/>
                </a:solidFill>
              </a:rPr>
              <a:t>Domain pretraining did NOT help at this scale.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40480"/>
            <a:ext cx="548640" cy="548640"/>
          </a:xfrm>
          <a:prstGeom prst="ellipse">
            <a:avLst/>
          </a:prstGeom>
          <a:solidFill>
            <a:srgbClr val="14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947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B1F3A"/>
                </a:solidFill>
              </a:rPr>
              <a:t>Hybrid underperforms pure T5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062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A4A4A"/>
                </a:solidFill>
              </a:rPr>
              <a:t>Pre-substitution removes context T5 uses.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029200"/>
            <a:ext cx="548640" cy="548640"/>
          </a:xfrm>
          <a:prstGeom prst="ellipse">
            <a:avLst/>
          </a:prstGeom>
          <a:solidFill>
            <a:srgbClr val="14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83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B1F3A"/>
                </a:solidFill>
              </a:rPr>
              <a:t>Rule-based loses on SARI / BLEU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3949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4A4A4A"/>
                </a:solidFill>
              </a:rPr>
              <a:t>Lowers FKGL but cannot rewrite.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Why Hybrid &lt; T5?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Rule substitution destroys 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0972800" cy="2286000"/>
          </a:xfrm>
          <a:prstGeom prst="rect">
            <a:avLst/>
          </a:prstGeom>
          <a:solidFill>
            <a:srgbClr val="F4F6F8"/>
          </a:solidFill>
          <a:ln w="9525"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ctr"/>
            <a:r>
              <a:rPr sz="1300">
                <a:solidFill>
                  <a:srgbClr val="0B1F3A"/>
                </a:solidFill>
                <a:latin typeface="Consolas"/>
              </a:rPr>
              <a:t>Source:      'myocardial infarction caused by occlusion'</a:t>
            </a: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After rule:  'heart attack caused by blockage'</a:t>
            </a:r>
          </a:p>
          <a:p>
            <a:r>
              <a:rPr sz="1300">
                <a:solidFill>
                  <a:srgbClr val="0B1F3A"/>
                </a:solidFill>
                <a:latin typeface="Consolas"/>
              </a:rPr>
              <a:t>After T5:    'a heart attack happened.'      ← T5 over-shortens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14800"/>
            <a:ext cx="10972800" cy="1828800"/>
          </a:xfrm>
          <a:prstGeom prst="roundRect">
            <a:avLst/>
          </a:prstGeom>
          <a:solidFill>
            <a:srgbClr val="F4F6F8"/>
          </a:solidFill>
          <a:ln>
            <a:solidFill>
              <a:srgbClr val="148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/>
            <a:r>
              <a:rPr sz="1500" b="1">
                <a:solidFill>
                  <a:srgbClr val="148F96"/>
                </a:solidFill>
              </a:rPr>
              <a:t>Insight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4A4A4A"/>
                </a:solidFill>
              </a:rPr>
              <a:t>T5 already learned 'myocardial infarction' → 'heart attack' during fine-tuning. Pre-substitution gives T5 a shorter input, so it over-compresses output. Symbolic preprocessing HURT the strong neural model.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Qualitative Sample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4A4A4A"/>
                </a:solidFill>
              </a:rPr>
              <a:t>Hybrid output vs reference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146304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41732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4A4A4A"/>
                </a:solidFill>
              </a:rPr>
              <a:t>The psychosocial interventions considered in the studies were: cognitive-behavioural coping skills training, twelve-step programme, brief intervention, motivational interviewing, and brief motivational interviewing.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26080"/>
            <a:ext cx="1463040" cy="365760"/>
          </a:xfrm>
          <a:prstGeom prst="rect">
            <a:avLst/>
          </a:prstGeom>
          <a:solidFill>
            <a:srgbClr val="14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HYBRID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88036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4A4A4A"/>
                </a:solidFill>
              </a:rPr>
              <a:t>The studies included: cognitive-behavioural coping skills training, twelve-step programme, brief intervention, motivational interviewing, and brief motivational interviewing.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89120"/>
            <a:ext cx="1463040" cy="365760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34340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4A4A4A"/>
                </a:solidFill>
              </a:rPr>
              <a:t>The twelve-step programme is based on theories from Alcoholics Anonymous and aims to motivate the person to develop a desire to stop using drugs or alcohol.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577840"/>
            <a:ext cx="10972800" cy="822960"/>
          </a:xfrm>
          <a:prstGeom prst="roundRect">
            <a:avLst/>
          </a:prstGeom>
          <a:solidFill>
            <a:srgbClr val="F4F6F8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/>
            <a:r>
              <a:rPr sz="1300" b="1">
                <a:solidFill>
                  <a:srgbClr val="C0392B"/>
                </a:solidFill>
              </a:rPr>
              <a:t>Caveat: </a:t>
            </a:r>
            <a:r>
              <a:rPr sz="1300">
                <a:solidFill>
                  <a:srgbClr val="4A4A4A"/>
                </a:solidFill>
              </a:rPr>
              <a:t>References are document-level, not sentence-aligned. This caps BLEU ceiling regardless of system quality.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Limitations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Reference misalignment in Cochrane caps BLEU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60M-parameter model — larger models likely improve fluency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No human evaluation (automatic metrics only)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English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8F96"/>
                </a:solidFill>
              </a:rP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Try LLaMA-3 / Flan-T5-large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Human readability study with patients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Smarter hybrid: rule pass AFTER T5, not before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Multi-reference evaluation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24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572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85800"/>
            <a:ext cx="548640" cy="73152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554480"/>
            <a:ext cx="10332720" cy="1828800"/>
          </a:xfrm>
          <a:prstGeom prst="roundRect">
            <a:avLst/>
          </a:prstGeom>
          <a:solidFill>
            <a:srgbClr val="F4F6F8"/>
          </a:solidFill>
          <a:ln w="25400">
            <a:solidFill>
              <a:srgbClr val="E8B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74320" rtlCol="0" anchor="ctr"/>
          <a:lstStyle/>
          <a:p>
            <a:pPr algn="ctr"/>
            <a:r>
              <a:rPr sz="2000" i="1">
                <a:solidFill>
                  <a:srgbClr val="0B1F3A"/>
                </a:solidFill>
              </a:rPr>
              <a:t>Fine-tuned T5-Small (60M) beats both biomedical pretraining (SciFive)
and rule-augmented hybrid at biomedical text simplification.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8F96"/>
                </a:solidFill>
              </a:rPr>
              <a:t>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Task-specific fine-tuning &gt; generic domain pretraining at small scale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Symbolic preprocessing can hurt strong neural models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Three complementary metrics (SARI + BLEU + FKGL) prevent gaming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4A4A4A"/>
                </a:solidFill>
              </a:rPr>
              <a:t>  •  Reproducible, GPU-free demo pipeline shipped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46520"/>
            <a:ext cx="11247120" cy="0"/>
          </a:xfrm>
          <a:prstGeom prst="line">
            <a:avLst/>
          </a:prstGeom>
          <a:ln w="12700">
            <a:solidFill>
              <a:srgbClr val="148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4922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A4A4A"/>
                </a:solidFill>
              </a:rPr>
              <a:t>Medical Text Simplification · CIE 553 NLP · Ibrahim Hanafy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922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4A4A4A"/>
                </a:solidFill>
              </a:rPr>
              <a:t>25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Q &amp; A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0" y="3931920"/>
            <a:ext cx="1371600" cy="91440"/>
          </a:xfrm>
          <a:prstGeom prst="rect">
            <a:avLst/>
          </a:prstGeom>
          <a:solidFill>
            <a:srgbClr val="E8B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F4F6F8"/>
                </a:solidFill>
              </a:rPr>
              <a:t>Code:  github.com/IbrahimHanafy2222/NLP-Project-Submission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4F6F8"/>
                </a:solidFill>
              </a:rPr>
              <a:t>Paper:  paper/NLP_Project.pdf    ·    Demo:  notebooks/05_evaluation.ipynb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E8B54A"/>
                </a:solidFill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2355</Words>
  <Application>Microsoft Office PowerPoint</Application>
  <PresentationFormat>Widescreen</PresentationFormat>
  <Paragraphs>326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Ibrahim Hany Ibrahim Eldosoky Ahmed Hanafy</cp:lastModifiedBy>
  <cp:revision>3</cp:revision>
  <dcterms:created xsi:type="dcterms:W3CDTF">2013-01-27T09:14:16Z</dcterms:created>
  <dcterms:modified xsi:type="dcterms:W3CDTF">2026-05-14T08:43:00Z</dcterms:modified>
  <cp:category/>
</cp:coreProperties>
</file>